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8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71" r:id="rId18"/>
    <p:sldId id="275" r:id="rId19"/>
    <p:sldId id="276" r:id="rId20"/>
    <p:sldId id="277" r:id="rId21"/>
    <p:sldId id="278" r:id="rId22"/>
    <p:sldId id="279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74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2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5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47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73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9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98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3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2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3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6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54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88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14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11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86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3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Macro-Enabled_Worksheet.xlsm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304800"/>
            <a:ext cx="7162800" cy="3488266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rebuchet MS" pitchFamily="34" charset="0"/>
              </a:rPr>
              <a:t>DSP 14 Thane</a:t>
            </a:r>
            <a:br>
              <a:rPr lang="en-IN" sz="4800" dirty="0">
                <a:latin typeface="Trebuchet MS" pitchFamily="34" charset="0"/>
              </a:rPr>
            </a:br>
            <a:r>
              <a:rPr lang="en-IN" sz="4800" u="sng" dirty="0">
                <a:latin typeface="Trebuchet MS" pitchFamily="34" charset="0"/>
              </a:rPr>
              <a:t>CAPSTONE PROJECT</a:t>
            </a:r>
            <a:r>
              <a:rPr lang="en-IN" sz="4800" dirty="0">
                <a:latin typeface="Trebuchet MS" pitchFamily="34" charset="0"/>
              </a:rPr>
              <a:t>:</a:t>
            </a:r>
            <a:br>
              <a:rPr lang="en-IN" sz="4800" dirty="0">
                <a:latin typeface="Trebuchet MS" pitchFamily="34" charset="0"/>
              </a:rPr>
            </a:br>
            <a:r>
              <a:rPr lang="en-IN" sz="4800" dirty="0">
                <a:latin typeface="Trebuchet MS" pitchFamily="34" charset="0"/>
              </a:rPr>
              <a:t> </a:t>
            </a:r>
            <a:r>
              <a:rPr lang="en-IN" sz="4800" u="sng" dirty="0">
                <a:latin typeface="Trebuchet MS" pitchFamily="34" charset="0"/>
              </a:rPr>
              <a:t>Cash Deposit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0" y="4114800"/>
            <a:ext cx="2667000" cy="182880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Submitted by: 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Nikita Porwal</a:t>
            </a:r>
          </a:p>
        </p:txBody>
      </p:sp>
    </p:spTree>
    <p:extLst>
      <p:ext uri="{BB962C8B-B14F-4D97-AF65-F5344CB8AC3E}">
        <p14:creationId xmlns:p14="http://schemas.microsoft.com/office/powerpoint/2010/main" val="4059754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95399"/>
          </a:xfrm>
        </p:spPr>
        <p:txBody>
          <a:bodyPr>
            <a:normAutofit/>
          </a:bodyPr>
          <a:lstStyle/>
          <a:p>
            <a:pPr fontAlgn="t"/>
            <a:r>
              <a:rPr lang="en-US" sz="2800" dirty="0">
                <a:latin typeface="Arial" pitchFamily="34" charset="0"/>
                <a:cs typeface="Arial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7704667" cy="33328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>
                <a:latin typeface="Trebuchet MS" pitchFamily="34" charset="0"/>
              </a:rPr>
              <a:t>	Objective Of The Problem: </a:t>
            </a:r>
            <a:r>
              <a:rPr lang="en-US" sz="1200" dirty="0">
                <a:latin typeface="Trebuchet MS" pitchFamily="34" charset="0"/>
              </a:rPr>
              <a:t>The objective is to predict the cash deposit amount for branches for the year of 2017 (“Deposits 2017” variable)</a:t>
            </a:r>
          </a:p>
          <a:p>
            <a:endParaRPr lang="en-US" sz="1200" dirty="0">
              <a:latin typeface="Trebuchet MS" pitchFamily="34" charset="0"/>
            </a:endParaRPr>
          </a:p>
          <a:p>
            <a:r>
              <a:rPr lang="en-US" sz="1200" dirty="0">
                <a:latin typeface="Trebuchet MS" pitchFamily="34" charset="0"/>
              </a:rPr>
              <a:t>The data given is of cash deposits made in particular branches of a bank. Please go through the descriptions of variables as below for a conceptional understanding of the data.</a:t>
            </a:r>
          </a:p>
          <a:p>
            <a:r>
              <a:rPr lang="en-US" sz="1200" b="1" dirty="0">
                <a:latin typeface="Trebuchet MS" pitchFamily="34" charset="0"/>
              </a:rPr>
              <a:t>Feature Description: </a:t>
            </a:r>
            <a:r>
              <a:rPr lang="en-US" sz="1200" dirty="0">
                <a:latin typeface="Trebuchet MS" pitchFamily="34" charset="0"/>
              </a:rPr>
              <a:t>Unique identifier for each data point relationship Main Office : Is the branch where the deposit was made the main office of the bank. 0 signifies no and 1 signifies yes Branch Number : Internally used identification number of the branch or certain branches Establishment Date and Acquired Date: The date at which the bank branch was established and acquired by the specific bank franchise City, Country and State : Geographical Details of the bank branch Year Deposits Variables( 2013 Deposits, 2014 Deposits…): Deposit amount in U.S. dollars for specific branch for a specific year</a:t>
            </a:r>
          </a:p>
          <a:p>
            <a:endParaRPr lang="en-US" sz="1200" dirty="0">
              <a:latin typeface="Trebuchet MS" pitchFamily="34" charset="0"/>
            </a:endParaRPr>
          </a:p>
          <a:p>
            <a:endParaRPr lang="en-US" sz="120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333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066800"/>
            <a:ext cx="7704667" cy="5257800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Clr>
                <a:srgbClr val="30ACEC">
                  <a:lumMod val="75000"/>
                </a:srgbClr>
              </a:buClr>
              <a:buNone/>
            </a:pPr>
            <a:r>
              <a:rPr lang="en-US" sz="4800" b="1" dirty="0">
                <a:solidFill>
                  <a:prstClr val="black"/>
                </a:solidFill>
                <a:latin typeface="Trebuchet MS" panose="020B0603020202020204" pitchFamily="34" charset="0"/>
              </a:rPr>
              <a:t>Python is used as coding language and this is a regression problem</a:t>
            </a:r>
          </a:p>
          <a:p>
            <a:pPr marL="0" indent="0">
              <a:buNone/>
            </a:pPr>
            <a:r>
              <a:rPr lang="en-US" sz="4800" b="1" dirty="0">
                <a:latin typeface="Trebuchet MS" panose="020B0603020202020204" pitchFamily="34" charset="0"/>
              </a:rPr>
              <a:t>Steps followed for prediction: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Importing Library and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Data Sanity Check and Data Cleaning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Class/Method is created for repeated operations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Imputing Missing Values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Adding New Features here it is Establishment Year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Data Label Encoding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Outliers Detection using Boxplot and managing outliers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Checking Linearity in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Creating histogram to check distribution of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Model selection based on Accuracy and RMSE value</a:t>
            </a:r>
          </a:p>
          <a:p>
            <a:pPr marL="0" indent="0">
              <a:buNone/>
            </a:pPr>
            <a:r>
              <a:rPr lang="en-US" sz="4800" b="1" dirty="0">
                <a:latin typeface="Trebuchet MS" panose="020B0603020202020204" pitchFamily="34" charset="0"/>
              </a:rPr>
              <a:t>Preliminary Observations: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 As we can see the dataset is of continuous numeric type and Supervised ML data where we will use Regression Algorithms,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>
                <a:latin typeface="Trebuchet MS" panose="020B0603020202020204" pitchFamily="34" charset="0"/>
              </a:rPr>
              <a:t>In order to predict closest price ,tried various models to check the best fit</a:t>
            </a:r>
          </a:p>
          <a:p>
            <a:pPr marL="0" indent="0">
              <a:buNone/>
            </a:pPr>
            <a:r>
              <a:rPr lang="en-US" sz="4000" dirty="0">
                <a:latin typeface="Trebuchet MS" panose="020B0603020202020204" pitchFamily="34" charset="0"/>
              </a:rPr>
              <a:t>	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2.1 </a:t>
            </a:r>
            <a:r>
              <a:rPr lang="en-US" sz="4000" dirty="0">
                <a:latin typeface="Trebuchet MS" panose="020B0603020202020204" pitchFamily="34" charset="0"/>
              </a:rPr>
              <a:t>Used Decision Tree Regression Model for prediction</a:t>
            </a:r>
          </a:p>
          <a:p>
            <a:pPr marL="0" indent="0">
              <a:buNone/>
            </a:pPr>
            <a:r>
              <a:rPr lang="en-US" sz="4000" dirty="0">
                <a:latin typeface="Trebuchet MS" panose="020B0603020202020204" pitchFamily="34" charset="0"/>
              </a:rPr>
              <a:t> 	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2.2 </a:t>
            </a:r>
            <a:r>
              <a:rPr lang="en-US" sz="4000" dirty="0">
                <a:latin typeface="Trebuchet MS" panose="020B0603020202020204" pitchFamily="34" charset="0"/>
              </a:rPr>
              <a:t>Used Linear Regression Model for prediction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	2.3 </a:t>
            </a:r>
            <a:r>
              <a:rPr lang="en-US" sz="4000" dirty="0">
                <a:latin typeface="Trebuchet MS" panose="020B0603020202020204" pitchFamily="34" charset="0"/>
              </a:rPr>
              <a:t>Used Random Forest Regression Model for prediction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	2.4 </a:t>
            </a:r>
            <a:r>
              <a:rPr lang="en-US" sz="4000" dirty="0">
                <a:latin typeface="Trebuchet MS" panose="020B0603020202020204" pitchFamily="34" charset="0"/>
              </a:rPr>
              <a:t>Used KNearestNeighbors Regression Model for prediction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	2.5 </a:t>
            </a:r>
            <a:r>
              <a:rPr lang="en-US" sz="4000" dirty="0">
                <a:latin typeface="Trebuchet MS" panose="020B0603020202020204" pitchFamily="34" charset="0"/>
              </a:rPr>
              <a:t>Grid Search CV using Ridge Model for prediction</a:t>
            </a:r>
          </a:p>
          <a:p>
            <a:pPr marL="0" indent="0">
              <a:buNone/>
            </a:pPr>
            <a:r>
              <a:rPr lang="en-US" sz="4000" dirty="0">
                <a:latin typeface="Trebuchet MS" panose="020B0603020202020204" pitchFamily="34" charset="0"/>
              </a:rPr>
              <a:t>	In order to predict closest price, tried various models to check the best fit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4000" dirty="0">
                <a:latin typeface="Trebuchet MS" panose="020B0603020202020204" pitchFamily="34" charset="0"/>
              </a:rPr>
              <a:t>By Comparing Accuracy and RMSE values to check for best fit model</a:t>
            </a:r>
          </a:p>
          <a:p>
            <a:pPr marL="457200" indent="-457200">
              <a:buNone/>
            </a:pPr>
            <a:r>
              <a:rPr lang="en-US" sz="4800" b="1" dirty="0">
                <a:solidFill>
                  <a:prstClr val="black"/>
                </a:solidFill>
                <a:latin typeface="Trebuchet MS" panose="020B0603020202020204" pitchFamily="34" charset="0"/>
              </a:rPr>
              <a:t>Observations:</a:t>
            </a:r>
          </a:p>
          <a:p>
            <a:pPr marL="457200" indent="-457200">
              <a:buNone/>
            </a:pPr>
            <a:r>
              <a:rPr lang="en-US" sz="4000" dirty="0">
                <a:latin typeface="Trebuchet MS" panose="020B0603020202020204" pitchFamily="34" charset="0"/>
              </a:rPr>
              <a:t>Random Forest Regressor has lowest RMSE, Hence considered as best fit model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6934200" cy="6096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Importing Library and Data sanity check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66800" y="990600"/>
            <a:ext cx="7876594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397" y="76200"/>
            <a:ext cx="7704667" cy="914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Check for additional columns in train and test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3000" y="990600"/>
            <a:ext cx="741324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04667" cy="76200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Checking data type of variables</a:t>
            </a:r>
            <a:b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Modify Date from object to datetime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597990"/>
            <a:ext cx="3657600" cy="2726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34983" y="1597990"/>
            <a:ext cx="3429000" cy="26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381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Created class for most repeated tasks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hecking missing values (sorted) with percentage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4400" y="2057400"/>
            <a:ext cx="7924800" cy="2857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9600" y="56388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 Data contains 6.75% of Null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4301"/>
            <a:ext cx="7704667" cy="914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Imputing missing values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cash deposit columns replacing by mean value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66800" y="1676400"/>
            <a:ext cx="7848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9600" y="5029200"/>
            <a:ext cx="533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r>
              <a:rPr lang="en-US" dirty="0"/>
              <a:t>Data contains 3.77% of Null values after cash deposit column imputations</a:t>
            </a:r>
          </a:p>
          <a:p>
            <a:r>
              <a:rPr lang="en-US" dirty="0"/>
              <a:t>Then replaced NA in Date Column with blank </a:t>
            </a:r>
          </a:p>
          <a:p>
            <a:r>
              <a:rPr lang="en-US" dirty="0"/>
              <a:t>Data contains 0.00% 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905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295400"/>
            <a:ext cx="5791200" cy="2723216"/>
          </a:xfrm>
        </p:spPr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sz="1200" dirty="0">
                <a:latin typeface="Trebuchet MS" pitchFamily="34" charset="0"/>
              </a:rPr>
              <a:t>Removed useless column </a:t>
            </a:r>
            <a:r>
              <a:rPr lang="en-US" sz="1200" b="1" dirty="0">
                <a:latin typeface="Trebuchet MS" pitchFamily="34" charset="0"/>
              </a:rPr>
              <a:t>id </a:t>
            </a:r>
            <a:r>
              <a:rPr lang="en-US" sz="1200" dirty="0">
                <a:latin typeface="Trebuchet MS" pitchFamily="34" charset="0"/>
              </a:rPr>
              <a:t>as it provides no information and add no value to data</a:t>
            </a:r>
            <a:endParaRPr lang="en-US" sz="1200" b="1" dirty="0">
              <a:latin typeface="Trebuchet MS" pitchFamily="34" charset="0"/>
            </a:endParaRPr>
          </a:p>
          <a:p>
            <a:pPr marL="228600" indent="-228600">
              <a:buAutoNum type="arabicPeriod"/>
            </a:pPr>
            <a:r>
              <a:rPr lang="en-US" sz="1200" dirty="0">
                <a:latin typeface="Trebuchet MS" pitchFamily="34" charset="0"/>
              </a:rPr>
              <a:t>Extracted </a:t>
            </a:r>
            <a:r>
              <a:rPr lang="en-US" sz="1200" b="1" dirty="0">
                <a:latin typeface="Trebuchet MS" pitchFamily="34" charset="0"/>
              </a:rPr>
              <a:t>Year</a:t>
            </a:r>
            <a:r>
              <a:rPr lang="en-US" sz="1200" dirty="0">
                <a:latin typeface="Trebuchet MS" pitchFamily="34" charset="0"/>
              </a:rPr>
              <a:t> as new feature from </a:t>
            </a:r>
            <a:r>
              <a:rPr lang="en-US" sz="1200" b="1" dirty="0">
                <a:latin typeface="Trebuchet MS" pitchFamily="34" charset="0"/>
              </a:rPr>
              <a:t>Date of</a:t>
            </a:r>
            <a:r>
              <a:rPr lang="en-US" sz="1200" dirty="0">
                <a:latin typeface="Trebuchet MS" pitchFamily="34" charset="0"/>
              </a:rPr>
              <a:t> </a:t>
            </a:r>
            <a:r>
              <a:rPr lang="en-US" sz="1200" b="1" dirty="0">
                <a:latin typeface="Trebuchet MS" pitchFamily="34" charset="0"/>
              </a:rPr>
              <a:t>Establishment </a:t>
            </a:r>
            <a:r>
              <a:rPr lang="en-US" sz="1200" dirty="0">
                <a:latin typeface="Trebuchet MS" pitchFamily="34" charset="0"/>
              </a:rPr>
              <a:t>as complete date did not give direct meaning to data, by extracting year the data was transformed into more informative</a:t>
            </a:r>
          </a:p>
          <a:p>
            <a:pPr marL="228600" indent="-228600">
              <a:buAutoNum type="arabicPeriod"/>
            </a:pPr>
            <a:r>
              <a:rPr lang="en-US" sz="1200" dirty="0">
                <a:latin typeface="Trebuchet MS" pitchFamily="34" charset="0"/>
              </a:rPr>
              <a:t>Removed </a:t>
            </a:r>
            <a:r>
              <a:rPr lang="en-US" sz="1200" b="1" dirty="0">
                <a:latin typeface="Trebuchet MS" pitchFamily="34" charset="0"/>
              </a:rPr>
              <a:t>Date of</a:t>
            </a:r>
            <a:r>
              <a:rPr lang="en-US" sz="1200" dirty="0">
                <a:latin typeface="Trebuchet MS" pitchFamily="34" charset="0"/>
              </a:rPr>
              <a:t> </a:t>
            </a:r>
            <a:r>
              <a:rPr lang="en-US" sz="1200" b="1" dirty="0">
                <a:latin typeface="Trebuchet MS" pitchFamily="34" charset="0"/>
              </a:rPr>
              <a:t>Establishment </a:t>
            </a:r>
            <a:r>
              <a:rPr lang="en-US" sz="1200" dirty="0">
                <a:latin typeface="Trebuchet MS" pitchFamily="34" charset="0"/>
              </a:rPr>
              <a:t>as it has no use Year will be required for better model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905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Label Encoding and Inserting Dummy variables</a:t>
            </a:r>
          </a:p>
        </p:txBody>
      </p:sp>
      <p:pic>
        <p:nvPicPr>
          <p:cNvPr id="6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371600"/>
            <a:ext cx="6781800" cy="3147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838200" y="50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data output (5413 rows, 168 columns)</a:t>
            </a:r>
          </a:p>
          <a:p>
            <a:r>
              <a:rPr lang="en-US" dirty="0"/>
              <a:t>from (5413 rows, 14 columns)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619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Splitting Test-Train Data</a:t>
            </a: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47800" y="1295400"/>
            <a:ext cx="6629400" cy="3651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Boxplots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Checking for Outlier in Data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399" y="1371601"/>
            <a:ext cx="4824337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715000" y="1752600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Outlier can be visible above 2,00,000 for each variable </a:t>
            </a:r>
          </a:p>
          <a:p>
            <a:r>
              <a:rPr lang="en-US" dirty="0"/>
              <a:t>Truncated values above 2,00,000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67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Boxplot after outlier removal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10672" y="1828800"/>
            <a:ext cx="5075927" cy="4501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Split Train into Train and Actual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check Accuracy and RMSE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Created Test in separate Data frame to predict</a:t>
            </a:r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82663" y="2557191"/>
            <a:ext cx="7704137" cy="2700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29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Linearity in Data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Checking Linear relationship between dependent and independent variables using seaborn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2286000"/>
            <a:ext cx="8254313" cy="158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143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Histogram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Dependant data should follow approximate normal distribution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79058" y="2286000"/>
            <a:ext cx="4484473" cy="345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857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1: Decision Tree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454342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34466" y="1813441"/>
            <a:ext cx="41910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248275" y="1444109"/>
            <a:ext cx="3153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Visualizing Decision Tree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79467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Accuracy: </a:t>
            </a:r>
            <a:r>
              <a:rPr lang="en-US" dirty="0"/>
              <a:t>0.999987780877183</a:t>
            </a:r>
          </a:p>
          <a:p>
            <a:r>
              <a:rPr lang="en-US" b="1" dirty="0"/>
              <a:t>Root Mean Square Error:</a:t>
            </a:r>
            <a:r>
              <a:rPr lang="en-US" dirty="0"/>
              <a:t>252.79370627587292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4571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2: Linear Regression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90600"/>
            <a:ext cx="47244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14400" y="489585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Accuracy: </a:t>
            </a:r>
            <a:r>
              <a:rPr lang="en-US" dirty="0"/>
              <a:t>0.8490420409604789</a:t>
            </a:r>
          </a:p>
          <a:p>
            <a:r>
              <a:rPr lang="en-US" b="1" dirty="0"/>
              <a:t>Root Mean Square Error: </a:t>
            </a:r>
            <a:r>
              <a:rPr lang="en-US" dirty="0"/>
              <a:t>28097.9250691301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04789"/>
            <a:ext cx="7704667" cy="5333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3: Random Forest*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066800"/>
            <a:ext cx="5076825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563880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Accuracy: </a:t>
            </a:r>
            <a:r>
              <a:rPr lang="en-US" dirty="0"/>
              <a:t>0.9999935478207401</a:t>
            </a:r>
          </a:p>
          <a:p>
            <a:r>
              <a:rPr lang="en-US" b="1" dirty="0"/>
              <a:t>Root Mean Square Error: </a:t>
            </a:r>
            <a:r>
              <a:rPr lang="en-US" dirty="0"/>
              <a:t>183.69589639570066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45719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4: </a:t>
            </a:r>
            <a:r>
              <a:rPr lang="en-US" dirty="0" err="1"/>
              <a:t>KNn</a:t>
            </a:r>
            <a:r>
              <a:rPr lang="en-US" dirty="0"/>
              <a:t> Regressor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3000" y="1066800"/>
            <a:ext cx="6019800" cy="4103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62000" y="5291365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Accuracy: </a:t>
            </a:r>
            <a:r>
              <a:rPr lang="en-US" dirty="0"/>
              <a:t>0.879950252619291</a:t>
            </a:r>
          </a:p>
          <a:p>
            <a:r>
              <a:rPr lang="en-US" b="1" dirty="0"/>
              <a:t>Root Mean Square Error: </a:t>
            </a:r>
            <a:r>
              <a:rPr lang="en-US" dirty="0"/>
              <a:t>25056.87275308279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3809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5: Grid Search Cross-Validation</a:t>
            </a: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20233" y="915588"/>
            <a:ext cx="4900811" cy="4671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20233" y="56642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Accuracy: </a:t>
            </a:r>
            <a:r>
              <a:rPr lang="en-US" dirty="0"/>
              <a:t>0.9999918489408574</a:t>
            </a:r>
          </a:p>
          <a:p>
            <a:endParaRPr lang="en-US" dirty="0"/>
          </a:p>
          <a:p>
            <a:r>
              <a:rPr lang="en-US" b="1" dirty="0"/>
              <a:t>Root Mean Square Error: </a:t>
            </a:r>
            <a:r>
              <a:rPr lang="en-US" dirty="0"/>
              <a:t>206.46824412239008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619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Accuracy Comparison</a:t>
            </a: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71600" y="1447800"/>
            <a:ext cx="5918059" cy="1666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143000" y="42672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File: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793701"/>
              </p:ext>
            </p:extLst>
          </p:nvPr>
        </p:nvGraphicFramePr>
        <p:xfrm>
          <a:off x="2667000" y="41910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Macro-Enabled Worksheet" showAsIcon="1" r:id="rId3" imgW="914400" imgH="771525" progId="Excel.SheetMacroEnabled.12">
                  <p:embed/>
                </p:oleObj>
              </mc:Choice>
              <mc:Fallback>
                <p:oleObj name="Macro-Enabled Worksheet" showAsIcon="1" r:id="rId3" imgW="914400" imgH="771525" progId="Excel.SheetMacroEnabled.12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91000"/>
                        <a:ext cx="914400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6799"/>
          </a:xfrm>
        </p:spPr>
        <p:txBody>
          <a:bodyPr/>
          <a:lstStyle/>
          <a:p>
            <a:r>
              <a:rPr lang="en-US" dirty="0"/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1447800"/>
            <a:ext cx="7696200" cy="3200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Conclusion: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200" dirty="0"/>
              <a:t>Decision Tree: "rmse":  252.793706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200" dirty="0"/>
              <a:t>Linear Regression: "rmse": 28097.925069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200" b="1" dirty="0"/>
              <a:t>Random Forest Regressor: "rmse":  183.695896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200" dirty="0"/>
              <a:t>KNeighbors Regressor: "rmse": 25056.872753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200" dirty="0"/>
              <a:t>GridSearch CV: "rmse": 206.468244</a:t>
            </a:r>
          </a:p>
          <a:p>
            <a:pPr>
              <a:buNone/>
            </a:pPr>
            <a:r>
              <a:rPr lang="en-US" sz="1200" dirty="0"/>
              <a:t>        </a:t>
            </a:r>
          </a:p>
          <a:p>
            <a:pPr>
              <a:buNone/>
            </a:pPr>
            <a:r>
              <a:rPr lang="en-US" sz="1200" dirty="0"/>
              <a:t>	</a:t>
            </a:r>
            <a:r>
              <a:rPr lang="en-US" sz="1600" dirty="0"/>
              <a:t>Considering RMSE Value:</a:t>
            </a:r>
          </a:p>
          <a:p>
            <a:pPr>
              <a:buNone/>
            </a:pPr>
            <a:r>
              <a:rPr lang="en-US" sz="1600" dirty="0"/>
              <a:t>	Best suited model for prediction is: </a:t>
            </a:r>
            <a:r>
              <a:rPr lang="en-US" sz="1600" b="1" dirty="0"/>
              <a:t>Random Forest </a:t>
            </a:r>
            <a:r>
              <a:rPr lang="en-US" sz="1600" b="1" dirty="0" err="1"/>
              <a:t>Regressor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	</a:t>
            </a:r>
            <a:r>
              <a:rPr lang="en-US" sz="1600" dirty="0"/>
              <a:t>having lowest value of </a:t>
            </a:r>
            <a:r>
              <a:rPr lang="en-US" sz="1600" b="1" dirty="0"/>
              <a:t>RSME ~ 183</a:t>
            </a:r>
            <a:r>
              <a:rPr lang="en-US" sz="1600" dirty="0"/>
              <a:t> with model </a:t>
            </a:r>
            <a:r>
              <a:rPr lang="en-US" sz="1600" b="1" dirty="0"/>
              <a:t>Accuracy 99%</a:t>
            </a:r>
          </a:p>
          <a:p>
            <a:pPr>
              <a:buNone/>
            </a:pPr>
            <a:endParaRPr lang="en-US" sz="12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67000" y="2743200"/>
            <a:ext cx="2362200" cy="6858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144</TotalTime>
  <Words>799</Words>
  <Application>Microsoft Office PowerPoint</Application>
  <PresentationFormat>On-screen Show (4:3)</PresentationFormat>
  <Paragraphs>90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Corbel</vt:lpstr>
      <vt:lpstr>Trebuchet MS</vt:lpstr>
      <vt:lpstr>Parallax</vt:lpstr>
      <vt:lpstr>Macro-Enabled Worksheet</vt:lpstr>
      <vt:lpstr>DSP 14 Thane CAPSTONE PROJECT:  Cash Deposit Prediction</vt:lpstr>
      <vt:lpstr>Problem Statement</vt:lpstr>
      <vt:lpstr>Project Overview</vt:lpstr>
      <vt:lpstr>Importing Library and Data sanity check</vt:lpstr>
      <vt:lpstr>Check for additional columns in train and test</vt:lpstr>
      <vt:lpstr>Checking data type of variables Modify Date from object to datetime </vt:lpstr>
      <vt:lpstr>Created class for most repeated tasks checking missing values (sorted) with percentage</vt:lpstr>
      <vt:lpstr>Imputing missing values cash deposit columns replacing by mean value</vt:lpstr>
      <vt:lpstr>Feature Engineering</vt:lpstr>
      <vt:lpstr>Label Encoding and Inserting Dummy variables</vt:lpstr>
      <vt:lpstr>Splitting Test-Train Data</vt:lpstr>
      <vt:lpstr>Data Visualisation: Boxplots Checking for Outlier in Data</vt:lpstr>
      <vt:lpstr>Boxplot after outlier removal</vt:lpstr>
      <vt:lpstr>Split Train into Train and Actual To check Accuracy and RMSE Created Test in separate Data frame to predict</vt:lpstr>
      <vt:lpstr>Data Visualisation: Linearity in Data Checking Linear relationship between dependent and independent variables using seaborn</vt:lpstr>
      <vt:lpstr>Data Visualisation: Histogram Dependant data should follow approximate normal distribution</vt:lpstr>
      <vt:lpstr>Model 1: Decision Tree</vt:lpstr>
      <vt:lpstr>Model 2: Linear Regression</vt:lpstr>
      <vt:lpstr>Model 3: Random Forest*</vt:lpstr>
      <vt:lpstr>Model 4: KNn Regressor</vt:lpstr>
      <vt:lpstr>Model 5: Grid Search Cross-Validation</vt:lpstr>
      <vt:lpstr>Accuracy Comparison</vt:lpstr>
      <vt:lpstr>Final Outcome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Rohit</dc:creator>
  <cp:lastModifiedBy>Porwal, Nikita</cp:lastModifiedBy>
  <cp:revision>17</cp:revision>
  <dcterms:created xsi:type="dcterms:W3CDTF">2006-08-16T00:00:00Z</dcterms:created>
  <dcterms:modified xsi:type="dcterms:W3CDTF">2026-07-01T13:23:05Z</dcterms:modified>
</cp:coreProperties>
</file>